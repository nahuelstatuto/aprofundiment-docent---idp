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/GQC32jKV1aAPdYjDUU1QRMoz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1" d="100"/>
          <a:sy n="161" d="100"/>
        </p:scale>
        <p:origin x="18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Norberto Statuto Perez" userId="c43cef5d-5461-4d79-ba06-e3095e1d9adf" providerId="ADAL" clId="{29E195FF-9357-46F2-906B-E4911E835052}"/>
    <pc:docChg chg="modSld">
      <pc:chgData name="Nahuel Norberto Statuto Perez" userId="c43cef5d-5461-4d79-ba06-e3095e1d9adf" providerId="ADAL" clId="{29E195FF-9357-46F2-906B-E4911E835052}" dt="2026-02-10T11:43:41.813" v="0" actId="1038"/>
      <pc:docMkLst>
        <pc:docMk/>
      </pc:docMkLst>
      <pc:sldChg chg="modSp mod">
        <pc:chgData name="Nahuel Norberto Statuto Perez" userId="c43cef5d-5461-4d79-ba06-e3095e1d9adf" providerId="ADAL" clId="{29E195FF-9357-46F2-906B-E4911E835052}" dt="2026-02-10T11:43:41.813" v="0" actId="1038"/>
        <pc:sldMkLst>
          <pc:docMk/>
          <pc:sldMk cId="0" sldId="261"/>
        </pc:sldMkLst>
        <pc:spChg chg="mod">
          <ac:chgData name="Nahuel Norberto Statuto Perez" userId="c43cef5d-5461-4d79-ba06-e3095e1d9adf" providerId="ADAL" clId="{29E195FF-9357-46F2-906B-E4911E835052}" dt="2026-02-10T11:43:41.813" v="0" actId="1038"/>
          <ac:spMkLst>
            <pc:docMk/>
            <pc:sldMk cId="0" sldId="261"/>
            <ac:spMk id="1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e4943c4460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2e4943c4460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4943c446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2e4943c446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4943c4460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2e4943c4460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4943c4460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2e4943c4460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e55167981e_4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2e55167981e_4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2e4943c4460_0_2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2e4943c4460_0_24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g2e4943c4460_0_2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2e4943c4460_0_2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2e4943c4460_0_2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e4943c4460_0_2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2e4943c4460_0_2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g2e4943c4460_0_2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e4943c4460_0_26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2e4943c4460_0_26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g2e4943c4460_0_2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e4943c4460_0_26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2e4943c4460_0_26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e4943c4460_0_25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" name="Google Shape;29;g2e4943c4460_0_2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e4943c4460_0_26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2e4943c4460_0_26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3" name="Google Shape;33;g2e4943c4460_0_26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4" name="Google Shape;34;g2e4943c4460_0_2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2e4943c4460_0_2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2e4943c4460_0_2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4943c4460_0_27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e4943c4460_0_27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g2e4943c4460_0_2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2e4943c4460_0_2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2e4943c4460_0_2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e4943c4460_0_28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2e4943c4460_0_28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2e4943c4460_0_28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g2e4943c4460_0_28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2e4943c4460_0_28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2e4943c4460_0_28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4943c4460_0_28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e4943c4460_0_287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3" name="Google Shape;53;g2e4943c4460_0_287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g2e4943c4460_0_28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g2e4943c4460_0_28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g2e4943c4460_0_28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2e4943c4460_0_28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2e4943c4460_0_28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4943c4460_0_29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e4943c4460_0_29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g2e4943c4460_0_29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3" name="Google Shape;63;g2e4943c4460_0_29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e4943c4460_0_29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e4943c4460_0_29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e4943c4460_0_30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e4943c4460_0_30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g2e4943c4460_0_30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2e4943c4460_0_30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2e4943c4460_0_30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4943c4460_0_309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2e4943c4460_0_309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2e4943c4460_0_30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2e4943c4460_0_30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2e4943c4460_0_30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e4943c4460_0_2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2e4943c4460_0_23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g2e4943c4460_0_2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g2e4943c4460_0_2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g2e4943c4460_0_2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244600" y="1017695"/>
            <a:ext cx="3630300" cy="329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3600"/>
              <a:buNone/>
            </a:pPr>
            <a:r>
              <a:rPr lang="ca" sz="3800" b="1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El docent investigador de la seva actuació docent</a:t>
            </a:r>
            <a:endParaRPr sz="3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 descr="Imagen que contiene pasto, exterior, objeto, cam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16524" r="16523"/>
          <a:stretch/>
        </p:blipFill>
        <p:spPr>
          <a:xfrm>
            <a:off x="3983776" y="10"/>
            <a:ext cx="5159081" cy="5143490"/>
          </a:xfrm>
          <a:custGeom>
            <a:avLst/>
            <a:gdLst/>
            <a:ahLst/>
            <a:cxnLst/>
            <a:rect l="l" t="t" r="r" b="b"/>
            <a:pathLst>
              <a:path w="6878775" h="6858000" extrusionOk="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0" y="98850"/>
            <a:ext cx="9144000" cy="5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1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91" name="Google Shape;91;p11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1"/>
          <p:cNvSpPr/>
          <p:nvPr/>
        </p:nvSpPr>
        <p:spPr>
          <a:xfrm>
            <a:off x="1112075" y="1813900"/>
            <a:ext cx="7870200" cy="222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878400" y="729803"/>
            <a:ext cx="7387200" cy="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/>
              <a:t>Abans de començar</a:t>
            </a:r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1112075" y="1876325"/>
            <a:ext cx="7808400" cy="22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ca" sz="1900"/>
              <a:t>Com va anar el </a:t>
            </a:r>
            <a:r>
              <a:rPr lang="ca" sz="1900" i="1"/>
              <a:t>microteaching</a:t>
            </a:r>
            <a:r>
              <a:rPr lang="ca" sz="1900"/>
              <a:t>? Comentaris, sensacions, etc.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0" y="98850"/>
            <a:ext cx="9144000" cy="5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5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102" name="Google Shape;102;p5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5"/>
          <p:cNvSpPr/>
          <p:nvPr/>
        </p:nvSpPr>
        <p:spPr>
          <a:xfrm>
            <a:off x="1112075" y="1813900"/>
            <a:ext cx="7870200" cy="222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 txBox="1">
            <a:spLocks noGrp="1"/>
          </p:cNvSpPr>
          <p:nvPr>
            <p:ph type="title"/>
          </p:nvPr>
        </p:nvSpPr>
        <p:spPr>
          <a:xfrm>
            <a:off x="878400" y="729803"/>
            <a:ext cx="7387200" cy="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/>
              <a:t>Abans de començar</a:t>
            </a:r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body" idx="1"/>
          </p:nvPr>
        </p:nvSpPr>
        <p:spPr>
          <a:xfrm>
            <a:off x="1112075" y="1876325"/>
            <a:ext cx="7808400" cy="22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Comentem amb el company què vas descobrir al </a:t>
            </a:r>
            <a:r>
              <a:rPr lang="ca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microteaching</a:t>
            </a:r>
            <a:r>
              <a:rPr lang="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la teva actuació a l’aula. 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0" y="98850"/>
            <a:ext cx="9144000" cy="5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113" name="Google Shape;113;p6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1112075" y="1813900"/>
            <a:ext cx="7870200" cy="2225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878400" y="729803"/>
            <a:ext cx="7387200" cy="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/>
              <a:t>Objectiu d’avui: fer el pla d’acció!!</a:t>
            </a:r>
            <a:endParaRPr/>
          </a:p>
        </p:txBody>
      </p:sp>
      <p:sp>
        <p:nvSpPr>
          <p:cNvPr id="117" name="Google Shape;117;p6"/>
          <p:cNvSpPr txBox="1">
            <a:spLocks noGrp="1"/>
          </p:cNvSpPr>
          <p:nvPr>
            <p:ph type="body" idx="1"/>
          </p:nvPr>
        </p:nvSpPr>
        <p:spPr>
          <a:xfrm>
            <a:off x="1112075" y="1876325"/>
            <a:ext cx="7808400" cy="22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ca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Diferències amb el que pensaves?</a:t>
            </a:r>
            <a:endParaRPr sz="2300"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1474" y="368709"/>
            <a:ext cx="1773326" cy="1961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13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125" name="Google Shape;125;p13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13"/>
          <p:cNvSpPr/>
          <p:nvPr/>
        </p:nvSpPr>
        <p:spPr>
          <a:xfrm>
            <a:off x="1321850" y="961800"/>
            <a:ext cx="7446600" cy="3270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/>
          </p:nvPr>
        </p:nvSpPr>
        <p:spPr>
          <a:xfrm>
            <a:off x="778350" y="772329"/>
            <a:ext cx="7387200" cy="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c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Pràctica reflexiva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1"/>
          </p:nvPr>
        </p:nvSpPr>
        <p:spPr>
          <a:xfrm>
            <a:off x="1321847" y="1930458"/>
            <a:ext cx="7387200" cy="20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a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S'advoca per un docent reflexiu que, des de la docència, indagui en les teories existents, denominada teoria amb majúscules, per a acostar-les a la problemàtica observada, de manera que la teoria es torna necessàriament aplicada -és l'anomenada teoria amb minúscules- pel que es trenca la relació vertical entre ambdues. Així doncs, el procés és invers al tradicionalment considerat: és la docència la que busca respostes en la teoria, i no la teoria la que busca incidir sobre la docència, entenent d'aquesta manera que teoria i pràctica es retroalimenten.</a:t>
            </a:r>
            <a:endParaRPr/>
          </a:p>
          <a:p>
            <a:pPr marL="54864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a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Atienza (2009)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3958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441425" y="1581974"/>
            <a:ext cx="31290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None/>
            </a:pPr>
            <a:r>
              <a:rPr lang="c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Reflexionar</a:t>
            </a:r>
            <a:endParaRPr sz="2400"/>
          </a:p>
        </p:txBody>
      </p:sp>
      <p:grpSp>
        <p:nvGrpSpPr>
          <p:cNvPr id="136" name="Google Shape;136;p14"/>
          <p:cNvGrpSpPr/>
          <p:nvPr/>
        </p:nvGrpSpPr>
        <p:grpSpPr>
          <a:xfrm>
            <a:off x="7062324" y="0"/>
            <a:ext cx="1834788" cy="5777808"/>
            <a:chOff x="329184" y="1"/>
            <a:chExt cx="524256" cy="5777808"/>
          </a:xfrm>
        </p:grpSpPr>
        <p:cxnSp>
          <p:nvCxnSpPr>
            <p:cNvPr id="137" name="Google Shape;137;p14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w="152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8" name="Google Shape;138;p14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14"/>
          <p:cNvSpPr/>
          <p:nvPr/>
        </p:nvSpPr>
        <p:spPr>
          <a:xfrm>
            <a:off x="4039948" y="201993"/>
            <a:ext cx="4587584" cy="465658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0429" y="774019"/>
            <a:ext cx="4206622" cy="3512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-12" y="288"/>
            <a:ext cx="9144000" cy="5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5"/>
          <p:cNvGrpSpPr/>
          <p:nvPr/>
        </p:nvGrpSpPr>
        <p:grpSpPr>
          <a:xfrm>
            <a:off x="0" y="912447"/>
            <a:ext cx="548639" cy="505095"/>
            <a:chOff x="3940602" y="308034"/>
            <a:chExt cx="2116791" cy="3428999"/>
          </a:xfrm>
        </p:grpSpPr>
        <p:sp>
          <p:nvSpPr>
            <p:cNvPr id="147" name="Google Shape;147;p15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15"/>
          <p:cNvSpPr/>
          <p:nvPr/>
        </p:nvSpPr>
        <p:spPr>
          <a:xfrm>
            <a:off x="836209" y="454702"/>
            <a:ext cx="8180700" cy="1420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1085025" y="607425"/>
            <a:ext cx="7154700" cy="1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94"/>
              <a:buNone/>
            </a:pPr>
            <a:r>
              <a:rPr lang="c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Què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é</a:t>
            </a:r>
            <a:r>
              <a:rPr lang="c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reflexionar</a:t>
            </a:r>
            <a:endParaRPr sz="3000"/>
          </a:p>
        </p:txBody>
      </p:sp>
      <p:sp>
        <p:nvSpPr>
          <p:cNvPr id="152" name="Google Shape;152;p15"/>
          <p:cNvSpPr txBox="1">
            <a:spLocks noGrp="1"/>
          </p:cNvSpPr>
          <p:nvPr>
            <p:ph type="body" idx="1"/>
          </p:nvPr>
        </p:nvSpPr>
        <p:spPr>
          <a:xfrm>
            <a:off x="676096" y="2014666"/>
            <a:ext cx="7455900" cy="2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a Dewey (1938), el pensament reflexiu comprèn, en un primer moment, un estat de dubte, vacil·lació, perplexitat, dificultat mental, en el qual s'origina el pensament; a continuació, un acte de cerca, de perquisició, recerca, per a trobar material que dissipi el dubte, resolgui i posi fi a la perplexitat.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5"/>
          <p:cNvCxnSpPr/>
          <p:nvPr/>
        </p:nvCxnSpPr>
        <p:spPr>
          <a:xfrm rot="10800000">
            <a:off x="628650" y="4863984"/>
            <a:ext cx="78867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6276975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/>
          <p:nvPr/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656521" y="0"/>
            <a:ext cx="851299" cy="35849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>
            <a:spLocks noGrp="1"/>
          </p:cNvSpPr>
          <p:nvPr>
            <p:ph type="title"/>
          </p:nvPr>
        </p:nvSpPr>
        <p:spPr>
          <a:xfrm>
            <a:off x="628650" y="50086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23"/>
              <a:buNone/>
            </a:pPr>
            <a:r>
              <a:rPr lang="c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D'on venim i cap a on anem?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 rot="-5400000" flipH="1">
            <a:off x="416783" y="1637417"/>
            <a:ext cx="3062575" cy="3062575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042032" y="2084589"/>
            <a:ext cx="7886700" cy="17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52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ca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Què t'havies proposat com a objectiu a l’observació?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ca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pogut cobrir-ho?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815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ca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descobert alguna cosa que valgui la pena considerar?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23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174" name="Google Shape;174;p23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3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23"/>
          <p:cNvSpPr/>
          <p:nvPr/>
        </p:nvSpPr>
        <p:spPr>
          <a:xfrm>
            <a:off x="878149" y="687325"/>
            <a:ext cx="7070700" cy="3985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3"/>
          <p:cNvSpPr txBox="1">
            <a:spLocks noGrp="1"/>
          </p:cNvSpPr>
          <p:nvPr>
            <p:ph type="title"/>
          </p:nvPr>
        </p:nvSpPr>
        <p:spPr>
          <a:xfrm>
            <a:off x="962222" y="743485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584200" lvl="0" indent="-565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AutoNum type="arabicPeriod"/>
            </a:pPr>
            <a:r>
              <a:rPr lang="ca">
                <a:latin typeface="Arial"/>
                <a:ea typeface="Arial"/>
                <a:cs typeface="Arial"/>
                <a:sym typeface="Arial"/>
              </a:rPr>
              <a:t>Identificar una àrea de millora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 txBox="1">
            <a:spLocks noGrp="1"/>
          </p:cNvSpPr>
          <p:nvPr>
            <p:ph type="body" idx="1"/>
          </p:nvPr>
        </p:nvSpPr>
        <p:spPr>
          <a:xfrm>
            <a:off x="1002050" y="2060300"/>
            <a:ext cx="6907800" cy="1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Es tracta d'identificar un aspecte que ens interessa millorar. És important que delimitem l'aspecte i que sigui el més concret possible.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24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185" name="Google Shape;185;p24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962222" y="928560"/>
            <a:ext cx="7387313" cy="101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 sz="4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c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Investigació preliminar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966975" y="2177178"/>
            <a:ext cx="7387200" cy="15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És important recollir informació sobre la pràctica a l'aula de l'aspecte que volem millorar. Requerirà d'eines objectives de recollida sistemàtica i ordenada (observació).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5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195" name="Google Shape;195;p25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25"/>
          <p:cNvSpPr txBox="1">
            <a:spLocks noGrp="1"/>
          </p:cNvSpPr>
          <p:nvPr>
            <p:ph type="title"/>
          </p:nvPr>
        </p:nvSpPr>
        <p:spPr>
          <a:xfrm>
            <a:off x="966922" y="597260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17"/>
              <a:buNone/>
            </a:pPr>
            <a:r>
              <a:rPr lang="ca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Anàlisi i valoració de la recerca preliminar</a:t>
            </a:r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body" idx="1"/>
          </p:nvPr>
        </p:nvSpPr>
        <p:spPr>
          <a:xfrm>
            <a:off x="966925" y="1854152"/>
            <a:ext cx="7387200" cy="16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En aquesta fase es requereix una anàlisi de les dades obtingudes buscant indicis de problemes, actuacions recurrents, diferències entre la pràctica i la planificació, o entre l'actuació docent i el que creiem fer.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6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05" name="Google Shape;205;p26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6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819822" y="292710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lang="ca"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Elaboració d'un pla d'acció</a:t>
            </a:r>
            <a:r>
              <a:rPr lang="c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body" idx="1"/>
          </p:nvPr>
        </p:nvSpPr>
        <p:spPr>
          <a:xfrm>
            <a:off x="966975" y="2177178"/>
            <a:ext cx="73872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A la llum de les dades obtingudes, el docent dissenya i implementa activitats en les quals introdueix un canvi que li permeti modificar un dels problemes o qüestions identificats en el punt 1.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27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15" name="Google Shape;215;p27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966922" y="431610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17"/>
              <a:buNone/>
            </a:pPr>
            <a:r>
              <a:rPr lang="ca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Intervenció en la pràctica docent</a:t>
            </a:r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body" idx="1"/>
          </p:nvPr>
        </p:nvSpPr>
        <p:spPr>
          <a:xfrm>
            <a:off x="966925" y="1821153"/>
            <a:ext cx="7387200" cy="15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Aquest és el moment d'aplicar </a:t>
            </a:r>
            <a:r>
              <a:rPr lang="ca" sz="1500" b="1">
                <a:latin typeface="Arial"/>
                <a:ea typeface="Arial"/>
                <a:cs typeface="Arial"/>
                <a:sym typeface="Arial"/>
              </a:rPr>
              <a:t>el pla d'acció dissenyat</a:t>
            </a:r>
            <a:r>
              <a:rPr lang="ca" sz="1500">
                <a:latin typeface="Arial"/>
                <a:ea typeface="Arial"/>
                <a:cs typeface="Arial"/>
                <a:sym typeface="Arial"/>
              </a:rPr>
              <a:t>. És aconsellable gravar la sessió, convidar a un observador, etc.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28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25" name="Google Shape;225;p28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8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28"/>
          <p:cNvSpPr txBox="1">
            <a:spLocks noGrp="1"/>
          </p:cNvSpPr>
          <p:nvPr>
            <p:ph type="title"/>
          </p:nvPr>
        </p:nvSpPr>
        <p:spPr>
          <a:xfrm>
            <a:off x="907897" y="183135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17"/>
              <a:buNone/>
            </a:pPr>
            <a:r>
              <a:rPr lang="ca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Avaluació per mitjà d'instruments adequats</a:t>
            </a:r>
            <a:endParaRPr sz="3400"/>
          </a:p>
        </p:txBody>
      </p:sp>
      <p:sp>
        <p:nvSpPr>
          <p:cNvPr id="228" name="Google Shape;228;p28"/>
          <p:cNvSpPr txBox="1">
            <a:spLocks noGrp="1"/>
          </p:cNvSpPr>
          <p:nvPr>
            <p:ph type="body" idx="1"/>
          </p:nvPr>
        </p:nvSpPr>
        <p:spPr>
          <a:xfrm>
            <a:off x="983550" y="1292076"/>
            <a:ext cx="7387200" cy="3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Autoobservació (gravacions de classe en vídeo o àudio segons el nostre objectiu)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Observacions entre col·legues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Plans de classe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Activitats resoltes pels alumnes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Qüestionaris a alumnes, professors, col·legues, etc.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Entrevistes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Diari de classe (estructurat, semiestruc, lliure)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Històries de vida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ca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29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35" name="Google Shape;235;p29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29"/>
          <p:cNvSpPr txBox="1">
            <a:spLocks noGrp="1"/>
          </p:cNvSpPr>
          <p:nvPr>
            <p:ph type="title"/>
          </p:nvPr>
        </p:nvSpPr>
        <p:spPr>
          <a:xfrm>
            <a:off x="962222" y="928560"/>
            <a:ext cx="7387313" cy="101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 sz="4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Anàlisi de la intervenció</a:t>
            </a:r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1"/>
          </p:nvPr>
        </p:nvSpPr>
        <p:spPr>
          <a:xfrm>
            <a:off x="966975" y="2177178"/>
            <a:ext cx="7387200" cy="1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Aquest és el moment d'analitzar les dades recaptades en la intervenció a partir de l'eina que hàgim decidit utilitzar.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30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45" name="Google Shape;245;p3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30"/>
          <p:cNvSpPr txBox="1">
            <a:spLocks noGrp="1"/>
          </p:cNvSpPr>
          <p:nvPr>
            <p:ph type="title"/>
          </p:nvPr>
        </p:nvSpPr>
        <p:spPr>
          <a:xfrm>
            <a:off x="959872" y="912010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 sz="4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Disseminació</a:t>
            </a:r>
            <a:endParaRPr sz="2500"/>
          </a:p>
        </p:txBody>
      </p:sp>
      <p:sp>
        <p:nvSpPr>
          <p:cNvPr id="248" name="Google Shape;248;p30"/>
          <p:cNvSpPr txBox="1">
            <a:spLocks noGrp="1"/>
          </p:cNvSpPr>
          <p:nvPr>
            <p:ph type="body" idx="1"/>
          </p:nvPr>
        </p:nvSpPr>
        <p:spPr>
          <a:xfrm>
            <a:off x="959925" y="1986678"/>
            <a:ext cx="7387200" cy="1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Compartir les dades i les conclusions permet col·laborar amb altres docents que podran ampliar la recerca i millorar la pràctica docent.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31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55" name="Google Shape;255;p31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" name="Google Shape;257;p31"/>
          <p:cNvSpPr txBox="1">
            <a:spLocks noGrp="1"/>
          </p:cNvSpPr>
          <p:nvPr>
            <p:ph type="title"/>
          </p:nvPr>
        </p:nvSpPr>
        <p:spPr>
          <a:xfrm>
            <a:off x="966922" y="448185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 sz="4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Inici d'un nou cicle</a:t>
            </a:r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body" idx="1"/>
          </p:nvPr>
        </p:nvSpPr>
        <p:spPr>
          <a:xfrm>
            <a:off x="966925" y="1705078"/>
            <a:ext cx="7387200" cy="16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r>
              <a:rPr lang="ca" sz="1500">
                <a:latin typeface="Arial"/>
                <a:ea typeface="Arial"/>
                <a:cs typeface="Arial"/>
                <a:sym typeface="Arial"/>
              </a:rPr>
              <a:t>La recerca acció és un procés cíclic que a la llum de les conclusions afina aspectes de l'àmbit inicial per a iniciar un nou procés.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1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51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65" name="Google Shape;265;p51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1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51"/>
          <p:cNvSpPr txBox="1">
            <a:spLocks noGrp="1"/>
          </p:cNvSpPr>
          <p:nvPr>
            <p:ph type="title"/>
          </p:nvPr>
        </p:nvSpPr>
        <p:spPr>
          <a:xfrm>
            <a:off x="1029857" y="99198"/>
            <a:ext cx="7387200" cy="10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65"/>
              <a:buNone/>
            </a:pPr>
            <a:r>
              <a:rPr lang="ca">
                <a:latin typeface="Arial"/>
                <a:ea typeface="Arial"/>
                <a:cs typeface="Arial"/>
                <a:sym typeface="Arial"/>
              </a:rPr>
              <a:t>Comencem! En què em centraré</a:t>
            </a:r>
            <a:endParaRPr/>
          </a:p>
        </p:txBody>
      </p:sp>
      <p:sp>
        <p:nvSpPr>
          <p:cNvPr id="268" name="Google Shape;268;p51"/>
          <p:cNvSpPr txBox="1"/>
          <p:nvPr/>
        </p:nvSpPr>
        <p:spPr>
          <a:xfrm>
            <a:off x="1029850" y="1111400"/>
            <a:ext cx="62931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la idea a l'objectiu general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 formulo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l'especifico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Procés de documentació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Què sé ja sobre el tema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Què crec que hauria de saber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on començo a documentar-me</a:t>
            </a:r>
            <a:br>
              <a:rPr lang="ca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4943c4460_0_118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2e4943c4460_0_118"/>
          <p:cNvSpPr/>
          <p:nvPr/>
        </p:nvSpPr>
        <p:spPr>
          <a:xfrm>
            <a:off x="0" y="1"/>
            <a:ext cx="9144000" cy="3309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2e4943c4460_0_118"/>
          <p:cNvSpPr/>
          <p:nvPr/>
        </p:nvSpPr>
        <p:spPr>
          <a:xfrm>
            <a:off x="447348" y="413971"/>
            <a:ext cx="8249304" cy="34639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2e4943c4460_0_118"/>
          <p:cNvSpPr txBox="1">
            <a:spLocks noGrp="1"/>
          </p:cNvSpPr>
          <p:nvPr>
            <p:ph type="ctrTitle"/>
          </p:nvPr>
        </p:nvSpPr>
        <p:spPr>
          <a:xfrm>
            <a:off x="1143000" y="970003"/>
            <a:ext cx="6858000" cy="2455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5400"/>
              <a:t>JA TENIM OBJECTIU,</a:t>
            </a:r>
            <a:endParaRPr sz="54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</a:pPr>
            <a:r>
              <a:rPr lang="ca" sz="5400"/>
              <a:t>I ARA QUÈ?</a:t>
            </a:r>
            <a:endParaRPr sz="5400"/>
          </a:p>
        </p:txBody>
      </p:sp>
      <p:cxnSp>
        <p:nvCxnSpPr>
          <p:cNvPr id="277" name="Google Shape;277;g2e4943c4460_0_118"/>
          <p:cNvCxnSpPr/>
          <p:nvPr/>
        </p:nvCxnSpPr>
        <p:spPr>
          <a:xfrm rot="10800000">
            <a:off x="447348" y="4766031"/>
            <a:ext cx="8250174" cy="0"/>
          </a:xfrm>
          <a:prstGeom prst="straightConnector1">
            <a:avLst/>
          </a:prstGeom>
          <a:noFill/>
          <a:ln w="1016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e4943c4460_0_122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g2e4943c4460_0_122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84" name="Google Shape;284;g2e4943c4460_0_122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2e4943c4460_0_122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g2e4943c4460_0_122"/>
          <p:cNvSpPr txBox="1">
            <a:spLocks noGrp="1"/>
          </p:cNvSpPr>
          <p:nvPr>
            <p:ph type="title"/>
          </p:nvPr>
        </p:nvSpPr>
        <p:spPr>
          <a:xfrm>
            <a:off x="829951" y="186062"/>
            <a:ext cx="7387313" cy="101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17"/>
              <a:buNone/>
            </a:pPr>
            <a:r>
              <a:rPr lang="ca">
                <a:latin typeface="Arial"/>
                <a:ea typeface="Arial"/>
                <a:cs typeface="Arial"/>
                <a:sym typeface="Arial"/>
              </a:rPr>
              <a:t>Ho compartim amb els nostres companys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2e4943c4460_0_122"/>
          <p:cNvSpPr txBox="1">
            <a:spLocks noGrp="1"/>
          </p:cNvSpPr>
          <p:nvPr>
            <p:ph type="body" idx="1"/>
          </p:nvPr>
        </p:nvSpPr>
        <p:spPr>
          <a:xfrm>
            <a:off x="958700" y="1283801"/>
            <a:ext cx="7742400" cy="29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Llegim els objectius dels nostres companys i pensem dos minuts si: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Són clars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Estan ben delimitats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Són realistes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Són possibles d'aconseguir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Són viables pel temps que es necessita,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context laboral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per la meva situació personal,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a" sz="1400">
                <a:latin typeface="Arial"/>
                <a:ea typeface="Arial"/>
                <a:cs typeface="Arial"/>
                <a:sym typeface="Arial"/>
              </a:rPr>
              <a:t>etc.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4943c4460_0_127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g2e4943c4460_0_127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294" name="Google Shape;294;g2e4943c4460_0_127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2e4943c4460_0_127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g2e4943c4460_0_127"/>
          <p:cNvSpPr/>
          <p:nvPr/>
        </p:nvSpPr>
        <p:spPr>
          <a:xfrm>
            <a:off x="694175" y="692200"/>
            <a:ext cx="8074200" cy="3664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2e4943c4460_0_127"/>
          <p:cNvSpPr txBox="1">
            <a:spLocks noGrp="1"/>
          </p:cNvSpPr>
          <p:nvPr>
            <p:ph type="title"/>
          </p:nvPr>
        </p:nvSpPr>
        <p:spPr>
          <a:xfrm>
            <a:off x="878350" y="3"/>
            <a:ext cx="73872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17"/>
              <a:buNone/>
            </a:pPr>
            <a:r>
              <a:rPr lang="ca">
                <a:latin typeface="Arial"/>
                <a:ea typeface="Arial"/>
                <a:cs typeface="Arial"/>
                <a:sym typeface="Arial"/>
              </a:rPr>
              <a:t>Com plantejar el nostre pla d'acció? (I)</a:t>
            </a:r>
            <a:endParaRPr sz="3400"/>
          </a:p>
        </p:txBody>
      </p:sp>
      <p:sp>
        <p:nvSpPr>
          <p:cNvPr id="298" name="Google Shape;298;g2e4943c4460_0_127"/>
          <p:cNvSpPr txBox="1">
            <a:spLocks noGrp="1"/>
          </p:cNvSpPr>
          <p:nvPr>
            <p:ph type="body" idx="1"/>
          </p:nvPr>
        </p:nvSpPr>
        <p:spPr>
          <a:xfrm>
            <a:off x="966975" y="886525"/>
            <a:ext cx="7387200" cy="3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457200" lvl="0" indent="-35216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180"/>
              <a:buChar char="•"/>
            </a:pPr>
            <a:r>
              <a:rPr lang="ca"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Ja tenim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5216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6876"/>
              <a:buChar char="○"/>
            </a:pPr>
            <a:r>
              <a:rPr lang="ca" b="1"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 una àrea de millora o </a:t>
            </a:r>
            <a:r>
              <a:rPr lang="ca" b="1">
                <a:latin typeface="Arial"/>
                <a:ea typeface="Arial"/>
                <a:cs typeface="Arial"/>
                <a:sym typeface="Arial"/>
              </a:rPr>
              <a:t>repte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 professional docent (1)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5216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6876"/>
              <a:buChar char="○"/>
            </a:pPr>
            <a:r>
              <a:rPr lang="ca" b="1">
                <a:latin typeface="Arial"/>
                <a:ea typeface="Arial"/>
                <a:cs typeface="Arial"/>
                <a:sym typeface="Arial"/>
              </a:rPr>
              <a:t>Recerca preliminar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 sobre el tema seleccionat (2)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5216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6876"/>
              <a:buChar char="○"/>
            </a:pPr>
            <a:r>
              <a:rPr lang="ca" b="1">
                <a:latin typeface="Arial"/>
                <a:ea typeface="Arial"/>
                <a:cs typeface="Arial"/>
                <a:sym typeface="Arial"/>
              </a:rPr>
              <a:t>Anàlisi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 de les dades obtingudes buscant indicis de problemes, actuacions recurrents, diferències entre la pràctica i la planificació, o entre l'actuació docent i el que creiem fer (3)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5216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180"/>
              <a:buChar char="•"/>
            </a:pPr>
            <a:r>
              <a:rPr lang="ca" b="1"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Elaboració</a:t>
            </a:r>
            <a:r>
              <a:rPr lang="ca"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 d'un pla d'acció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 (4)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237867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100180"/>
              <a:buFont typeface="Arial"/>
              <a:buChar char="•"/>
            </a:pPr>
            <a:r>
              <a:rPr lang="ca">
                <a:latin typeface="Arial"/>
                <a:ea typeface="Arial"/>
                <a:cs typeface="Arial"/>
                <a:sym typeface="Arial"/>
              </a:rPr>
              <a:t>A la llum de les dades obtingudes, el docent dissenya i </a:t>
            </a:r>
            <a:r>
              <a:rPr lang="ca" b="1">
                <a:latin typeface="Arial"/>
                <a:ea typeface="Arial"/>
                <a:cs typeface="Arial"/>
                <a:sym typeface="Arial"/>
              </a:rPr>
              <a:t>implementa</a:t>
            </a:r>
            <a:r>
              <a:rPr lang="ca">
                <a:latin typeface="Arial"/>
                <a:ea typeface="Arial"/>
                <a:cs typeface="Arial"/>
                <a:sym typeface="Arial"/>
              </a:rPr>
              <a:t> activitats en les quals introdueix un canvi que li permeti modificar un dels problemes o qüestions identificats en el punt 1. (5)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e4943c4460_0_230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g2e4943c4460_0_230"/>
          <p:cNvGrpSpPr/>
          <p:nvPr/>
        </p:nvGrpSpPr>
        <p:grpSpPr>
          <a:xfrm rot="5400000">
            <a:off x="-1755331" y="1999637"/>
            <a:ext cx="4395038" cy="395784"/>
            <a:chOff x="6081624" y="1998368"/>
            <a:chExt cx="5613457" cy="782175"/>
          </a:xfrm>
        </p:grpSpPr>
        <p:sp>
          <p:nvSpPr>
            <p:cNvPr id="305" name="Google Shape;305;g2e4943c4460_0_23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2e4943c4460_0_230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g2e4943c4460_0_230"/>
          <p:cNvSpPr txBox="1">
            <a:spLocks noGrp="1"/>
          </p:cNvSpPr>
          <p:nvPr>
            <p:ph type="title"/>
          </p:nvPr>
        </p:nvSpPr>
        <p:spPr>
          <a:xfrm>
            <a:off x="878400" y="1"/>
            <a:ext cx="73512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4848"/>
              <a:buNone/>
            </a:pPr>
            <a:r>
              <a:rPr lang="ca">
                <a:latin typeface="Arial"/>
                <a:ea typeface="Arial"/>
                <a:cs typeface="Arial"/>
                <a:sym typeface="Arial"/>
              </a:rPr>
              <a:t>Pla d'acció: estructura</a:t>
            </a:r>
            <a:endParaRPr/>
          </a:p>
        </p:txBody>
      </p:sp>
      <p:sp>
        <p:nvSpPr>
          <p:cNvPr id="308" name="Google Shape;308;g2e4943c4460_0_230"/>
          <p:cNvSpPr txBox="1">
            <a:spLocks noGrp="1"/>
          </p:cNvSpPr>
          <p:nvPr>
            <p:ph type="body" idx="1"/>
          </p:nvPr>
        </p:nvSpPr>
        <p:spPr>
          <a:xfrm>
            <a:off x="878400" y="588725"/>
            <a:ext cx="8087100" cy="42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Introducció (estructura del pla de treball + justificació)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Què sé sobre el tema i  / o considero que hauria de saber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Anàlisi i valoració de l'observació preliminar (reflexió </a:t>
            </a:r>
            <a:r>
              <a:rPr lang="ca" sz="1600" i="1">
                <a:latin typeface="Arial"/>
                <a:ea typeface="Arial"/>
                <a:cs typeface="Arial"/>
                <a:sym typeface="Arial"/>
              </a:rPr>
              <a:t>microteaching+ observació del video amb la fitxa</a:t>
            </a:r>
            <a:r>
              <a:rPr lang="ca" sz="1600">
                <a:latin typeface="Arial"/>
                <a:ea typeface="Arial"/>
                <a:cs typeface="Arial"/>
                <a:sym typeface="Arial"/>
              </a:rPr>
              <a:t>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Objectiu + justificació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168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ca" sz="1600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Elaboraci</a:t>
            </a:r>
            <a:r>
              <a:rPr lang="ca" sz="1600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ó</a:t>
            </a:r>
            <a:r>
              <a:rPr lang="ca" sz="1600">
                <a:latin typeface="Arial"/>
                <a:ea typeface="Arial"/>
                <a:cs typeface="Arial"/>
                <a:sym typeface="Arial"/>
              </a:rPr>
              <a:t> d’un pla de acció: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quins canvis es podrien introduir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quan podrien realitzar-se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Intervenció en la pràctica docent (introducció d'algun canvi)</a:t>
            </a: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Anàlisi de la intervenció</a:t>
            </a: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Avaluació per mitjà d'instruments adequats</a:t>
            </a: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9784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79"/>
              <a:buFont typeface="Arial"/>
              <a:buChar char="●"/>
            </a:pPr>
            <a:r>
              <a:rPr lang="ca" sz="16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Inici d'un nou cicle</a:t>
            </a: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168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Annexos (Fitxa d’observació, cronograma, etc.)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a" sz="1600">
                <a:latin typeface="Arial"/>
                <a:ea typeface="Arial"/>
                <a:cs typeface="Arial"/>
                <a:sym typeface="Arial"/>
              </a:rPr>
              <a:t>Data de lliurament: </a:t>
            </a:r>
            <a:r>
              <a:rPr lang="ca" sz="1600" b="1">
                <a:latin typeface="Arial"/>
                <a:ea typeface="Arial"/>
                <a:cs typeface="Arial"/>
                <a:sym typeface="Arial"/>
              </a:rPr>
              <a:t>22 de febrer al </a:t>
            </a:r>
            <a:r>
              <a:rPr lang="ca" sz="1600" b="1" i="1">
                <a:latin typeface="Arial"/>
                <a:ea typeface="Arial"/>
                <a:cs typeface="Arial"/>
                <a:sym typeface="Arial"/>
              </a:rPr>
              <a:t>Moodle</a:t>
            </a:r>
            <a:endParaRPr sz="16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70"/>
              <a:buNone/>
            </a:pP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70"/>
              <a:buNone/>
            </a:pPr>
            <a:endParaRPr sz="10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e55167981e_4_9"/>
          <p:cNvSpPr/>
          <p:nvPr/>
        </p:nvSpPr>
        <p:spPr>
          <a:xfrm>
            <a:off x="0" y="0"/>
            <a:ext cx="9144000" cy="44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" name="Google Shape;314;g2e55167981e_4_9"/>
          <p:cNvGrpSpPr/>
          <p:nvPr/>
        </p:nvGrpSpPr>
        <p:grpSpPr>
          <a:xfrm rot="5400000">
            <a:off x="-1755202" y="1999211"/>
            <a:ext cx="4394801" cy="395781"/>
            <a:chOff x="6081592" y="1998368"/>
            <a:chExt cx="5613489" cy="782175"/>
          </a:xfrm>
        </p:grpSpPr>
        <p:sp>
          <p:nvSpPr>
            <p:cNvPr id="315" name="Google Shape;315;g2e55167981e_4_9"/>
            <p:cNvSpPr/>
            <p:nvPr/>
          </p:nvSpPr>
          <p:spPr>
            <a:xfrm rot="5400000">
              <a:off x="11227981" y="2313068"/>
              <a:ext cx="78180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2e55167981e_4_9"/>
            <p:cNvSpPr/>
            <p:nvPr/>
          </p:nvSpPr>
          <p:spPr>
            <a:xfrm rot="10800000">
              <a:off x="6081592" y="1998743"/>
              <a:ext cx="5373000" cy="78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g2e55167981e_4_9"/>
          <p:cNvSpPr txBox="1">
            <a:spLocks noGrp="1"/>
          </p:cNvSpPr>
          <p:nvPr>
            <p:ph type="body" idx="1"/>
          </p:nvPr>
        </p:nvSpPr>
        <p:spPr>
          <a:xfrm>
            <a:off x="861625" y="663900"/>
            <a:ext cx="7755300" cy="3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/>
              <a:t>Bona feina i  bon final de trimestre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/>
              <a:t>Recordeu que seguim a l’altre costat de la pantalla</a:t>
            </a:r>
            <a:endParaRPr/>
          </a:p>
        </p:txBody>
      </p:sp>
      <p:pic>
        <p:nvPicPr>
          <p:cNvPr id="318" name="Google Shape;318;g2e55167981e_4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3725" y="2439775"/>
            <a:ext cx="1989550" cy="19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On-screen Show (16:9)</PresentationFormat>
  <Paragraphs>88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Tema de Office</vt:lpstr>
      <vt:lpstr>PowerPoint Presentation</vt:lpstr>
      <vt:lpstr>Abans de començar</vt:lpstr>
      <vt:lpstr>Abans de començar</vt:lpstr>
      <vt:lpstr>Objectiu d’avui: fer el pla d’acció!!</vt:lpstr>
      <vt:lpstr>Pràctica reflexiva</vt:lpstr>
      <vt:lpstr>Reflexionar</vt:lpstr>
      <vt:lpstr>Què és reflexionar</vt:lpstr>
      <vt:lpstr>PowerPoint Presentation</vt:lpstr>
      <vt:lpstr>D'on venim i cap a on anem?</vt:lpstr>
      <vt:lpstr>Identificar una àrea de millora</vt:lpstr>
      <vt:lpstr>2. Investigació preliminar</vt:lpstr>
      <vt:lpstr>3. Anàlisi i valoració de la recerca preliminar</vt:lpstr>
      <vt:lpstr>4. Elaboració d'un pla d'acció </vt:lpstr>
      <vt:lpstr>5. Intervenció en la pràctica docent</vt:lpstr>
      <vt:lpstr>6. Avaluació per mitjà d'instruments adequats</vt:lpstr>
      <vt:lpstr>7. Anàlisi de la intervenció</vt:lpstr>
      <vt:lpstr>8. Disseminació</vt:lpstr>
      <vt:lpstr>9. Inici d'un nou cicle</vt:lpstr>
      <vt:lpstr>Comencem! En què em centraré</vt:lpstr>
      <vt:lpstr>JA TENIM OBJECTIU, I ARA QUÈ?</vt:lpstr>
      <vt:lpstr>Ho compartim amb els nostres companys</vt:lpstr>
      <vt:lpstr>Com plantejar el nostre pla d'acció? (I)</vt:lpstr>
      <vt:lpstr>Pla d'acció: estructura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Vicenta Gonzalez Argüello</dc:creator>
  <cp:lastModifiedBy>Nahuel Norberto Statuto Perez</cp:lastModifiedBy>
  <cp:revision>1</cp:revision>
  <dcterms:modified xsi:type="dcterms:W3CDTF">2026-02-10T11:43:50Z</dcterms:modified>
</cp:coreProperties>
</file>